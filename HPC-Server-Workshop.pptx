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2" r:id="rId3"/>
  </p:sldMasterIdLst>
  <p:notesMasterIdLst>
    <p:notesMasterId r:id="rId4"/>
  </p:notesMasterIdLst>
  <p:sldIdLst>
    <p:sldId id="256" r:id="rId5"/>
    <p:sldId id="257" r:id="rId6"/>
    <p:sldId id="258" r:id="rId10"/>
    <p:sldId id="259" r:id="rId8"/>
    <p:sldId id="260" r:id="rId11"/>
    <p:sldId id="261" r:id="rId12"/>
    <p:sldId id="262" r:id="rId13"/>
    <p:sldId id="263" r:id="rId14"/>
    <p:sldId id="264" r:id="rId16"/>
    <p:sldId id="265" r:id="rId17"/>
    <p:sldId id="266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  <Relationship Id="rId10" Type="http://schemas.openxmlformats.org/officeDocument/2006/relationships/slide" Target="slides/slide6.xml"/>
  <Relationship Id="rId11" Type="http://schemas.openxmlformats.org/officeDocument/2006/relationships/slide" Target="slides/slide7.xml"/>
  <Relationship Id="rId12" Type="http://schemas.openxmlformats.org/officeDocument/2006/relationships/slide" Target="slides/slide8.xml"/>
  <Relationship Id="rId13" Type="http://schemas.openxmlformats.org/officeDocument/2006/relationships/slide" Target="slides/slide9.xml"/>
  <Relationship Id="rId14" Type="http://schemas.openxmlformats.org/officeDocument/2006/relationships/slide" Target="slides/slide10.xml"/>
  <Relationship Id="rId15" Type="http://schemas.openxmlformats.org/officeDocument/2006/relationships/slide" Target="slides/slide11.xml"/>
  <Relationship Id="rId16" Type="http://schemas.openxmlformats.org/officeDocument/2006/relationships/slide" Target="slides/slide12.xml"/>
  <Relationship Id="rId17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" name="Google Shape;4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14a514ba8b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14a514ba8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14a514ba8b_2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14a514ba8b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3898428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Source Sans Pro"/>
              <a:buNone/>
              <a:defRPr b="1" sz="52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ource Sans Pro"/>
              <a:buNone/>
              <a:defRPr sz="2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0" y="2150850"/>
            <a:ext cx="91440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5" name="Google Shape;15;p4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Left">
  <p:cSld name="TITLE_AND_BOD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/>
          <p:nvPr>
            <p:ph type="title"/>
          </p:nvPr>
        </p:nvSpPr>
        <p:spPr>
          <a:xfrm>
            <a:off x="1275625" y="527250"/>
            <a:ext cx="7556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" type="body"/>
          </p:nvPr>
        </p:nvSpPr>
        <p:spPr>
          <a:xfrm>
            <a:off x="1275625" y="1228675"/>
            <a:ext cx="7556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Source Sans Pro"/>
              <a:buChar char="■"/>
              <a:defRPr sz="1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sid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1105450" y="527250"/>
            <a:ext cx="772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hasCustomPrompt="1" type="title"/>
          </p:nvPr>
        </p:nvSpPr>
        <p:spPr>
          <a:xfrm>
            <a:off x="311700" y="4203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311700" y="2466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algn="ctr"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eft">
  <p:cSld name="BLANK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letely blank">
  <p:cSld name="CUSTOM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5"/>
          <p:cNvSpPr/>
          <p:nvPr/>
        </p:nvSpPr>
        <p:spPr>
          <a:xfrm>
            <a:off x="0" y="-9525"/>
            <a:ext cx="9144000" cy="514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ource Sans Pro"/>
              <a:buNone/>
              <a:defRPr b="1" sz="2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Source Sans Pro"/>
              <a:buChar char="○"/>
              <a:defRPr sz="1600">
                <a:solidFill>
                  <a:schemeClr val="dk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type="ctrTitle"/>
          </p:nvPr>
        </p:nvSpPr>
        <p:spPr>
          <a:xfrm>
            <a:off x="3854962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Running Servers on Sherlock</a:t>
            </a:r>
          </a:p>
        </p:txBody>
      </p:sp>
      <p:sp>
        <p:nvSpPr>
          <p:cNvPr id="48" name="Google Shape;48;p16"/>
          <p:cNvSpPr txBox="1"/>
          <p:nvPr>
            <p:ph idx="1" type="subTitle"/>
          </p:nvPr>
        </p:nvSpPr>
        <p:spPr>
          <a:xfrm>
            <a:off x="1114909" y="2834125"/>
            <a:ext cx="76740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Five tiers of one SLURM pattern — from a REST API to a browser GUI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Two problems, every single time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Where is it?  </a:t>
            </a:r>
            <a:r>
              <a:rPr lang="en-US" sz="1500"/>
              <a:t>SLURM picks the node, so you cannot hardcode a hostname. The server writes its own address to a file in $SCRATCH; clients read that file.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How do I reach it?  </a:t>
            </a:r>
            <a:r>
              <a:rPr lang="en-US" sz="1500"/>
              <a:t>A compute node is not reachable from your laptop. You either forward a port to it, or use a browser that is already inside the cluster.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Everything here is those two problems, solved the same way five times.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The server writes down where it landed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>
                <a:latin typeface="Courier New"/>
                <a:cs typeface="Courier New"/>
              </a:rPr>
              <a:t>$ cat $SCRATCH/hpc_workshop_gui.txt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>
                <a:latin typeface="Courier New"/>
                <a:cs typeface="Courier New"/>
              </a:rPr>
              <a:t>sh03-01n52:41235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An ephemeral port, so two people on one node don't collide.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&lt;node&gt;:&lt;port&gt; is the format the Sherlock Ollama docs use — both halves pull straight back out with shell expansion.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1. Discovery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The five tiers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01  Data server  </a:t>
            </a:r>
            <a:r>
              <a:rPr lang="en-US" sz="1400"/>
              <a:t>— serve a CSV over REST.  Any compute node.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02  Model server  </a:t>
            </a:r>
            <a:r>
              <a:rPr lang="en-US" sz="1400"/>
              <a:t>— ml ollama on an instant MIG slice.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03  MCP server  </a:t>
            </a:r>
            <a:r>
              <a:rPr lang="en-US" sz="1400"/>
              <a:t>— give Claude structured tool access.  No GPU.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04  Web GUI  </a:t>
            </a:r>
            <a:r>
              <a:rPr lang="en-US" sz="1400"/>
              <a:t>— drive a job from your laptop's browser.  Any node.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05  OnDemand  </a:t>
            </a:r>
            <a:r>
              <a:rPr lang="en-US" sz="1400"/>
              <a:t>— the same, in-browser, with no tunnel at all.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Each is self-contained. The discovery and tunnel patterns are identical in all five.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2. The tunnel — where everyone trips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The bind address and the tunnel target must agree.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Server on 127.0.0.1  →  </a:t>
            </a:r>
            <a:r>
              <a:rPr lang="en-US" sz="1400">
                <a:latin typeface="Courier New"/>
                <a:cs typeface="Courier New"/>
              </a:rPr>
              <a:t>ssh -NfL 8080:localhost:PORT NODE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      Encrypted end to end. Needs a running job on that node.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Server on 0.0.0.0  →  </a:t>
            </a:r>
            <a:r>
              <a:rPr lang="en-US" sz="1400">
                <a:latin typeface="Courier New"/>
                <a:cs typeface="Courier New"/>
              </a:rPr>
              <a:t>ssh -NfL 8080:NODE:PORT login.sherlock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      Works without node access, but the last hop is cleartext internally.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Then open http://localhost:8080 — localhost, not the node name.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4 — a page you actually wrote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upload an input  →  job runs on the cluster  →  download the output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 page and the API come from one FastAPI app. Same origin, so there is no CORS to configure, no second web server, and no build step.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Serve them separately and you hit cross-origin errors immediately — which is when people start pasting wildcard CORS onto an unauthenticated server.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Point RESULTS_DIR at a directory your pipeline already writes to and the page lists those files with no code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5 — OnDemand, no tunnel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An OOD session already runs on a compute node. The browser is inside the cluster, so nothing needs forwarding.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Jupyter, code-server, RStudio, TensorBoard, Interactive Desktop, and a file browser — all there, no code required.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For "I just want my results on my laptop," the Files menu already does it.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To let your lab launch your own tool from the dashboard, you package it as a custom interactive app — that one needs SRCC.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3 — MCP: tools here, model there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You expose tools. Claude decides which to call.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Ask "how do I stop hitting my quota?" and it picks search_docs, then read_doc, and answers from what it finds. You never name an endpoint.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No GPU, and no model on the cluster — this process reads files and matches strings. The tools and the model are separate services; that is the point of MCP.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Streamable HTTP is ordinary HTTP, so it forwards through the very same tunnel as tier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Where to start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Never run a server in a batch job?  </a:t>
            </a:r>
            <a:r>
              <a:rPr lang="en-US" sz="1400"/>
              <a:t>Tier 1. The SLURM patterns there are identical in all five tiers.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Already have results you want to see?  </a:t>
            </a:r>
            <a:r>
              <a:rPr lang="en-US" sz="1400"/>
              <a:t>Tier 5 — it needs no code at all.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Want a page of your own?  </a:t>
            </a:r>
            <a:r>
              <a:rPr lang="en-US" sz="1400"/>
              <a:t>Tier 4, then tier 3 once you'd rather ask questions than click.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One warning: none of these servers authenticate anyone. The SSH tunnel is doing that job — keep them on loopback and off public ports.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Keeping it all on Sherlock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Tier 3's default sends your prompts and the retrieved text to Anthropic.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To keep it inside Stanford, run the model here too: </a:t>
            </a:r>
            <a:r>
              <a:rPr lang="en-US" sz="1100">
                <a:latin typeface="Courier New"/>
                <a:cs typeface="Courier New"/>
              </a:rPr>
              <a:t>ml ollama</a:t>
            </a:r>
            <a:r>
              <a:rPr lang="en-US" sz="1100"/>
              <a:t> on a GPU node — the same service pattern as tier 2, endpoint in ~/.ollama_server.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Then either point a CLI agent at it (OpenCode, Crush and pi all take an OpenAI-compatible base_url), or forward two ports and drive it from a local editor.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/>
              <a:t>Caveat: </a:t>
            </a:r>
            <a:r>
              <a:rPr lang="en-US" sz="1100"/>
              <a:t>small local models are markedly worse at multi-step tool calling, and Ollama caps context at 4k under 24 GB of GPU memory — raise num_ctx first or agents simply fail.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Aside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When you want HuggingFace instead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The headline: pre-tuned, domain- and task-specific models.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/>
              <a:t>The Hub carries models already tuned for a field or a task — scientific text, biomedical literature, protein sequences — that Ollama's library doesn't have. A model that knows your domain usually beats a bigger general one, on less GPU.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/>
              <a:t>Also for gated models, quantization you control, and reproducible batch inference.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What changes: </a:t>
            </a:r>
            <a:r>
              <a:rPr lang="en-US" sz="1000"/>
              <a:t>you write the server; </a:t>
            </a:r>
            <a:r>
              <a:rPr lang="en-US" sz="1000">
                <a:latin typeface="Courier New"/>
                <a:cs typeface="Courier New"/>
              </a:rPr>
              <a:t>module load pytorch</a:t>
            </a:r>
            <a:r>
              <a:rPr lang="en-US" sz="1000"/>
              <a:t> rather than pip-installing torch; set </a:t>
            </a:r>
            <a:r>
              <a:rPr lang="en-US" sz="1000">
                <a:latin typeface="Courier New"/>
                <a:cs typeface="Courier New"/>
              </a:rPr>
              <a:t>HF_HOME=$SCRATCH/hf_cache</a:t>
            </a:r>
            <a:r>
              <a:rPr lang="en-US" sz="1000"/>
              <a:t> or you re-download weights every job; ask for a full GPU, not a MIG slice. And if the model is an encoder, change the pipeline task — text-generation is the wrong one.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Tier 2 in the repo ships both paths, scripts included.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Tip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RC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