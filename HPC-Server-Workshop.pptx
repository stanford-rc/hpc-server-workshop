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10"/>
    <p:sldId id="259" r:id="rId8"/>
    <p:sldId id="260" r:id="rId11"/>
    <p:sldId id="261" r:id="rId12"/>
    <p:sldId id="262" r:id="rId13"/>
    <p:sldId id="263" r:id="rId14"/>
    <p:sldId id="264" r:id="rId16"/>
    <p:sldId id="265" r:id="rId17"/>
    <p:sldId id="266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8" Type="http://schemas.openxmlformats.org/officeDocument/2006/relationships/slide" Target="slides/slide4.xml"/>  <Relationship Id="rId10" Type="http://schemas.openxmlformats.org/officeDocument/2006/relationships/slide" Target="slides/slide6.xml"/>
  <Relationship Id="rId11" Type="http://schemas.openxmlformats.org/officeDocument/2006/relationships/slide" Target="slides/slide7.xml"/>
  <Relationship Id="rId12" Type="http://schemas.openxmlformats.org/officeDocument/2006/relationships/slide" Target="slides/slide8.xml"/>
  <Relationship Id="rId13" Type="http://schemas.openxmlformats.org/officeDocument/2006/relationships/slide" Target="slides/slide9.xml"/>
  <Relationship Id="rId14" Type="http://schemas.openxmlformats.org/officeDocument/2006/relationships/slide" Target="slides/slide10.xml"/>
  <Relationship Id="rId15" Type="http://schemas.openxmlformats.org/officeDocument/2006/relationships/slide" Target="slides/slide11.xml"/>
  <Relationship Id="rId16" Type="http://schemas.openxmlformats.org/officeDocument/2006/relationships/slide" Target="slides/slide12.xml"/>
  <Relationship Id="rId17" Type="http://schemas.openxmlformats.org/officeDocument/2006/relationships/slide" Target="slides/slide13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14a514ba8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14a514ba8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4a514ba8b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4a514ba8b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898428" y="744575"/>
            <a:ext cx="4933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Source Sans Pro"/>
              <a:buNone/>
              <a:defRPr b="1" sz="5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5200"/>
              <a:buFont typeface="Source Sans Pro"/>
              <a:buNone/>
              <a:defRPr b="1" sz="52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ource Sans Pro"/>
              <a:buNone/>
              <a:defRPr sz="2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0" y="2150850"/>
            <a:ext cx="9144000" cy="841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Left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1275625" y="527250"/>
            <a:ext cx="755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ource Sans Pro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1275625" y="1228675"/>
            <a:ext cx="755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●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○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Source Sans Pro"/>
              <a:buChar char="■"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Source Sans Pro"/>
              <a:buChar char="■"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sid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1105450" y="527250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4833950" y="171875"/>
            <a:ext cx="419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4833950" y="1005875"/>
            <a:ext cx="4192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9"/>
          <p:cNvSpPr txBox="1"/>
          <p:nvPr>
            <p:ph idx="2" type="title"/>
          </p:nvPr>
        </p:nvSpPr>
        <p:spPr>
          <a:xfrm>
            <a:off x="0" y="2150850"/>
            <a:ext cx="4577100" cy="841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hasCustomPrompt="1" type="title"/>
          </p:nvPr>
        </p:nvSpPr>
        <p:spPr>
          <a:xfrm>
            <a:off x="311700" y="4203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311700" y="2466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eft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5"/>
          <p:cNvSpPr/>
          <p:nvPr/>
        </p:nvSpPr>
        <p:spPr>
          <a:xfrm>
            <a:off x="0" y="-9525"/>
            <a:ext cx="9144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b="1" sz="2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ource Sans Pro"/>
              <a:buChar char="○"/>
              <a:defRPr sz="1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type="ctrTitle"/>
          </p:nvPr>
        </p:nvSpPr>
        <p:spPr>
          <a:xfrm>
            <a:off x="3854962" y="744575"/>
            <a:ext cx="4933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Running Servers on Sherlock</a:t>
            </a:r>
          </a:p>
        </p:txBody>
      </p:sp>
      <p:sp>
        <p:nvSpPr>
          <p:cNvPr id="48" name="Google Shape;48;p16"/>
          <p:cNvSpPr txBox="1"/>
          <p:nvPr>
            <p:ph idx="1" type="subTitle"/>
          </p:nvPr>
        </p:nvSpPr>
        <p:spPr>
          <a:xfrm>
            <a:off x="1114909" y="2834125"/>
            <a:ext cx="767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Start one in a session, find it, keep it private, and reach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Three questions, every time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/>
              <a:t>Where is it?  </a:t>
            </a:r>
            <a:r>
              <a:rPr lang="en-US" sz="1500"/>
              <a:t>You don't choose the node, so the server writes its machine and port to a file in $SCRATCH.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/>
              <a:t>Who can use it?  </a:t>
            </a:r>
            <a:r>
              <a:rPr lang="en-US" sz="1500"/>
              <a:t>Any machine on Sherlock can reach it, so every request carries your token.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/>
              <a:t>How do I reach it?  </a:t>
            </a:r>
            <a:r>
              <a:rPr lang="en-US" sz="1500"/>
              <a:t>From Sherlock, ssh to its machine. From your laptop, one SSH tunnel.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b="1"/>
              <a:t>Every tier answers these three the same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4833950" y="171875"/>
            <a:ext cx="419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/>
              <a:t>The server writes down where it landed</a:t>
            </a:r>
          </a:p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4833950" y="1005875"/>
            <a:ext cx="4192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>
                <a:latin typeface="Courier New"/>
                <a:cs typeface="Courier New"/>
              </a:rPr>
              <a:t>$ cat $SCRATCH/hpc_workshop_server.txt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>
                <a:latin typeface="Courier New"/>
                <a:cs typeface="Courier New"/>
              </a:rPr>
              <a:t>sh04-18n32.int:44636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/>
              <a:t>It picks a free port, so people on the same machine don't clash.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/>
              <a:t>To use it from another terminal, </a:t>
            </a:r>
            <a:r>
              <a:rPr lang="en-US" sz="1200">
                <a:latin typeface="Courier New"/>
                <a:cs typeface="Courier New"/>
              </a:rPr>
              <a:t>ssh sh04-18n32</a:t>
            </a:r>
            <a:r>
              <a:rPr lang="en-US" sz="1200"/>
              <a:t> first. You land inside your session's job.</a:t>
            </a:r>
          </a:p>
        </p:txBody>
      </p:sp>
      <p:sp>
        <p:nvSpPr>
          <p:cNvPr id="66" name="Google Shape;66;p19"/>
          <p:cNvSpPr txBox="1"/>
          <p:nvPr>
            <p:ph idx="2" type="title"/>
          </p:nvPr>
        </p:nvSpPr>
        <p:spPr>
          <a:xfrm>
            <a:off x="0" y="2150850"/>
            <a:ext cx="457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1. Where is 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The day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Morning  </a:t>
            </a:r>
            <a:r>
              <a:rPr lang="en-US" sz="1400"/>
              <a:t>Tier 1: a data server.  Tier 2: a language model on a GPU.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Afternoon  </a:t>
            </a:r>
            <a:r>
              <a:rPr lang="en-US" sz="1400"/>
              <a:t>Tier 3: tools for Claude (MCP).  Tier 4: a web page for your job.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On your own  </a:t>
            </a:r>
            <a:r>
              <a:rPr lang="en-US" sz="1400"/>
              <a:t>Tier 5: Open OnDemand, with no tunnel.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Everything runs in </a:t>
            </a:r>
            <a:r>
              <a:rPr lang="en-US" sz="1400">
                <a:latin typeface="Courier New"/>
                <a:cs typeface="Courier New"/>
              </a:rPr>
              <a:t>sh_dev</a:t>
            </a:r>
            <a:r>
              <a:rPr lang="en-US" sz="1400"/>
              <a:t> sessions, with Sherlock's modules and a shared set of Python packages. Nothing to install.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2. Who can use it? The token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>
                <a:latin typeface="Courier New"/>
                <a:cs typeface="Courier New"/>
              </a:rPr>
              <a:t>python3 -c "import secrets; print(secrets.token_urlsafe(32))" &gt; ~/.hpc_workshop/token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>
                <a:latin typeface="Courier New"/>
                <a:cs typeface="Courier New"/>
              </a:rPr>
              <a:t>chmod 600 ~/.hpc_workshop/token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/>
              <a:t>Every request sends it; without it the server answers 401.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 b="1"/>
              <a:t>For your lab: </a:t>
            </a:r>
            <a:r>
              <a:rPr lang="en-US" sz="1300"/>
              <a:t>a group-readable token file in $GROUP_HOME.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/>
              <a:t>Ollama has no token, so it only accepts connections from its own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3. How do I reach it from my laptop?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One command on your laptop: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>
                <a:latin typeface="Courier New"/>
                <a:cs typeface="Courier New"/>
              </a:rPr>
              <a:t>ssh -S none -N -L 8080:&lt;machine&gt;:&lt;port&gt; login.sherlock.stanford.edu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Then open http://localhost:8080. Your laptop's port 8080 now leads to the server.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SUNet password and Duo as usual. Ctrl-C closes the tunnel.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>
                <a:latin typeface="Courier New"/>
                <a:cs typeface="Courier New"/>
              </a:rPr>
              <a:t>-S none</a:t>
            </a:r>
            <a:r>
              <a:rPr lang="en-US" sz="1400"/>
              <a:t> makes it its own connection, so Ctrl-C always frees the 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Tier 2: a model on a GPU slice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>
                <a:latin typeface="Courier New"/>
                <a:cs typeface="Courier New"/>
              </a:rPr>
              <a:t>sh_dev -g 1 -m 8000</a:t>
            </a:r>
            <a:r>
              <a:rPr lang="en-US" sz="1400"/>
              <a:t>  one slice of a GPU (6 GB), usually right away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Ollama:  </a:t>
            </a:r>
            <a:r>
              <a:rPr lang="en-US" sz="1400">
                <a:latin typeface="Courier New"/>
                <a:cs typeface="Courier New"/>
              </a:rPr>
              <a:t>ml ollama</a:t>
            </a:r>
            <a:r>
              <a:rPr lang="en-US" sz="1400"/>
              <a:t>. Models come from Sherlock's library on Oak; we use gemma3:4b.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Your own server:  </a:t>
            </a:r>
            <a:r>
              <a:rPr lang="en-US" sz="1400"/>
              <a:t>Hugging Face transformers with Qwen2.5-1.5B-Instruct, behind your token.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Test models before you trust them. </a:t>
            </a:r>
            <a:r>
              <a:rPr lang="en-US" sz="1400"/>
              <a:t>Smaller ones made up what SLURM stands for, or turned 4 × 4000 MB into 32000 GB.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Tier 3: tools for Claude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MCP lets you give Claude tools. Claude decides which to call.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The server offers three: list, search and read a folder of documents. No GPU needed.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Claude Code runs on Sherlock too: </a:t>
            </a:r>
            <a:r>
              <a:rPr lang="en-US" sz="1400">
                <a:latin typeface="Courier New"/>
                <a:cs typeface="Courier New"/>
              </a:rPr>
              <a:t>ml claude-code</a:t>
            </a:r>
            <a:r>
              <a:rPr lang="en-US" sz="1400"/>
              <a:t>, signed in with your Stanford account.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On Sherlock, Claude already reads Sherlock's own guidance, so it uses your tools when the question needs them. Questions and tool results go to Anthropic.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311700" y="52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/>
              <a:t>Where to go next</a:t>
            </a: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No tunnel at all?  </a:t>
            </a:r>
            <a:r>
              <a:rPr lang="en-US" sz="1400"/>
              <a:t>Tier 5: an OnDemand session is already inside Sherlock.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Keep the token.  </a:t>
            </a:r>
            <a:r>
              <a:rPr lang="en-US" sz="1400"/>
              <a:t>Don't put research data behind a server anyone on Sherlock can query.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Not on the public internet.  </a:t>
            </a:r>
            <a:r>
              <a:rPr lang="en-US" sz="1400"/>
              <a:t>The way in from outside is SSH with your SUNet ID and Duo.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/>
              <a:t>Something shared and long-running?  </a:t>
            </a:r>
            <a:r>
              <a:rPr lang="en-US" sz="1400"/>
              <a:t>That needs a proper service: talk to SRCC.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4833950" y="171875"/>
            <a:ext cx="419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/>
              <a:t>A web page for your job</a:t>
            </a:r>
          </a:p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4833950" y="1005875"/>
            <a:ext cx="4192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00" b="1"/>
              <a:t>upload an input  →  run the job  →  download the results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00"/>
              <a:t>One server sends both the page and the data behind it, so there's nothing extra to set up.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00"/>
              <a:t>Paste your token into the page once; the browser keeps it as a cookie, so plain download links work.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00"/>
              <a:t>The job only reads inputs/ and writes results/. Your own script can take its place.</a:t>
            </a:r>
          </a:p>
        </p:txBody>
      </p:sp>
      <p:sp>
        <p:nvSpPr>
          <p:cNvPr id="66" name="Google Shape;66;p19"/>
          <p:cNvSpPr txBox="1"/>
          <p:nvPr>
            <p:ph idx="2" type="title"/>
          </p:nvPr>
        </p:nvSpPr>
        <p:spPr>
          <a:xfrm>
            <a:off x="0" y="2150850"/>
            <a:ext cx="457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Tier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4833950" y="171875"/>
            <a:ext cx="4192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/>
              <a:t>Running it for real</a:t>
            </a:r>
          </a:p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4833950" y="1005875"/>
            <a:ext cx="4192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b="1"/>
              <a:t>Longer than a session: </a:t>
            </a:r>
            <a:r>
              <a:rPr lang="en-US" sz="1000">
                <a:latin typeface="Courier New"/>
                <a:cs typeface="Courier New"/>
              </a:rPr>
              <a:t>mkdir -p logs; sbatch submit_server.sh</a:t>
            </a:r>
            <a:r>
              <a:rPr lang="en-US" sz="1000"/>
              <a:t>. Batch jobs go to normal or gpu, not dev, and may wait in the queue.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b="1"/>
              <a:t>Your own packages: </a:t>
            </a:r>
            <a:r>
              <a:rPr lang="en-US" sz="1000"/>
              <a:t>uv venv and uv pip install --no-build in $GROUP_HOME. Plain python on Sherlock is Python 2; use python3.</a:t>
            </a: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000" b="1"/>
              <a:t>Your own data: </a:t>
            </a:r>
            <a:r>
              <a:rPr lang="en-US" sz="1000"/>
              <a:t>swap the table, the model, the documents or the job. The session, address file, token and tunnel stay the same.</a:t>
            </a:r>
          </a:p>
        </p:txBody>
      </p:sp>
      <p:sp>
        <p:nvSpPr>
          <p:cNvPr id="66" name="Google Shape;66;p19"/>
          <p:cNvSpPr txBox="1"/>
          <p:nvPr>
            <p:ph idx="2" type="title"/>
          </p:nvPr>
        </p:nvSpPr>
        <p:spPr>
          <a:xfrm>
            <a:off x="0" y="2150850"/>
            <a:ext cx="457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After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RC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